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Shape 1"/>
          <p:cNvSpPr/>
          <p:nvPr/>
        </p:nvSpPr>
        <p:spPr>
          <a:xfrm rot="1080000">
            <a:off x="6949440" y="-365760"/>
            <a:ext cx="2926080" cy="2926080"/>
          </a:xfrm>
          <a:prstGeom prst="rect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 rot="1920000">
            <a:off x="7589520" y="2926080"/>
            <a:ext cx="2377440" cy="2377440"/>
          </a:xfrm>
          <a:prstGeom prst="rect">
            <a:avLst/>
          </a:prstGeom>
          <a:solidFill>
            <a:srgbClr val="2B4B7E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ANALYSTLAB AFRICA</a:t>
            </a:r>
            <a:endParaRPr lang="en-US" sz="2400" b="1" kern="0" spc="300" dirty="0">
              <a:solidFill>
                <a:srgbClr val="60A5F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FinTrust Digital Bank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Testing &amp; Validation Report</a:t>
            </a:r>
            <a:endParaRPr lang="en-US" sz="2400" dirty="0">
              <a:solidFill>
                <a:srgbClr val="E2E8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01168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640080" y="29260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Track  |  Experience Lab Internship  |  Week 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Intern: Emmanuel Asamoah Oppong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Date: Sunday, 4th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075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Scope, datasets &amp; analytical layers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/>
        </p:nvSpPr>
        <p:spPr>
          <a:xfrm>
            <a:off x="5029200" y="132588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0" y="13075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&amp; Validation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1645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checks across four tools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731520" y="25146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24963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Performance Indicators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2834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Reconciled headline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3172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1" name="Text 19"/>
          <p:cNvSpPr/>
          <p:nvPr/>
        </p:nvSpPr>
        <p:spPr>
          <a:xfrm>
            <a:off x="5029200" y="25146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24963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Analysis Highlights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2834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priority business queries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Text 24"/>
          <p:cNvSpPr/>
          <p:nvPr/>
        </p:nvSpPr>
        <p:spPr>
          <a:xfrm>
            <a:off x="731520" y="370332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36850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Validated Insights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0233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Evidence-backed findings &amp; actions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9144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1" name="Text 29"/>
          <p:cNvSpPr/>
          <p:nvPr/>
        </p:nvSpPr>
        <p:spPr>
          <a:xfrm>
            <a:off x="5029200" y="370332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60720" y="36850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Validation Summary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760720" y="40233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Corrections, confirmations &amp; close-out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 closes the Data Analytics track by testing, validating, refining and presenting the full FinTrust 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calculations, Pareto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decile analysis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5544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373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5176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business queries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JOINs, CTE, NTILE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15544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84632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customer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RFM segmentation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949440" y="155448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373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3317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040880" y="265176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validation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365760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</p:spPr>
      </p:sp>
      <p:sp>
        <p:nvSpPr>
          <p:cNvPr id="22" name="Text 16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Underlying Datasets  ·  Q1 2026 (January – March)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1,500 Customers   ·   12,000 Transactions   ·   Customer + Transaction tables fully reconciled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 Quality &amp; Calculation Integrity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Checks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Orphan 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without transactions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matched to valid 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69748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12,000 / 12,000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with ≥1 transaction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2004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1,500 / 1,500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Customer_ID integrity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7033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sound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9" name="Text 1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Calculation Accuracy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  ↔  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3760" y="16916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1945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 ↔  Python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1945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↔  Power BI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6974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2004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KPIs reconciled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200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four tools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703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value confirmed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7033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₦510,807,441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91440" cy="1645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94360" y="1325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1,500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active 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91440" cy="1645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/>
        </p:nvSpPr>
        <p:spPr>
          <a:xfrm>
            <a:off x="3474720" y="1325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 2026 volume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91440" cy="1645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6355080" y="1325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₦510.8M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55080" y="2240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revenue KPI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91440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594360" y="3154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All-Status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₦560.5M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unsettled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926080"/>
            <a:ext cx="91440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6" name="Text 24"/>
          <p:cNvSpPr/>
          <p:nvPr/>
        </p:nvSpPr>
        <p:spPr>
          <a:xfrm>
            <a:off x="3474720" y="3154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35204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90.47%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474720" y="4069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settled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91440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6355080" y="3154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Review Rate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19.60%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55080" y="4069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SQL Analysis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A2744"/>
          </a:solidFill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90.47% succeed; ₦49.7M sits in Failed / Reversed / Pending (≈8.9% of all-status value).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92808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A2744"/>
          </a:solidFill>
        </p:spPr>
      </p:sp>
      <p:sp>
        <p:nvSpPr>
          <p:cNvPr id="11" name="Text 9"/>
          <p:cNvSpPr/>
          <p:nvPr/>
        </p:nvSpPr>
        <p:spPr>
          <a:xfrm>
            <a:off x="502920" y="193852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8288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by Type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Transfers alone = ₦218.4M (42.7% of successful value). Mean ≫ median across every type.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42616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A2744"/>
          </a:solidFill>
        </p:spPr>
      </p:sp>
      <p:sp>
        <p:nvSpPr>
          <p:cNvPr id="16" name="Text 14"/>
          <p:cNvSpPr/>
          <p:nvPr/>
        </p:nvSpPr>
        <p:spPr>
          <a:xfrm>
            <a:off x="502920" y="268833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25786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by Type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852928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(28.5%) &amp; Cash Withdrawal (25.3%) flagged ~2× Bill Payment / Card Purchase.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92424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A2744"/>
          </a:solidFill>
        </p:spPr>
      </p:sp>
      <p:sp>
        <p:nvSpPr>
          <p:cNvPr id="21" name="Text 19"/>
          <p:cNvSpPr/>
          <p:nvPr/>
        </p:nvSpPr>
        <p:spPr>
          <a:xfrm>
            <a:off x="502920" y="343814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32841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by Amount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3602736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rate 16–19% under ₦100k → 25.5% (₦100–250k) → 40.9% above ₦250k.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42232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1A2744"/>
          </a:solidFill>
        </p:spPr>
      </p:sp>
      <p:sp>
        <p:nvSpPr>
          <p:cNvPr id="26" name="Text 24"/>
          <p:cNvSpPr/>
          <p:nvPr/>
        </p:nvSpPr>
        <p:spPr>
          <a:xfrm>
            <a:off x="502920" y="41879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Q11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25880" y="40782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Concentration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352544"/>
            <a:ext cx="7223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10% of customers = 27% of successful value; top 30% = 59.5%.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Insight 1  ·  Value Overstatement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Reported total value overstates real revenue by ≈ 9%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All-status ₦560.5M  →  Successful-only ₦510.8M  ·  ₦49.7M never settled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Identical figures confirmed across Excel, SQL, Python and Power BI. The ₦49.7M gap sits in Reversed, Failed and Pending statuses.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834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 all FinTrust reporting on successful-only value as the primary KPI. Retain all-status only as secondary context.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Insight 2  ·  At-Risk Customer Segment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“At Risk” is both the largest segment and the largest value pool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 of 1,500 customers (40%)  ·  ₦177.9M successful value (34.8% of total)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834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MEANING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small pocket of dormant accounts — this is the single largest revenue pool and it is showing clear signs of disengagement.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834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20040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Launch a dedicated, targeted re-engagement campaign for the At-Risk segment before further value is lost.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Insights 3 &amp; 4  ·  Risk Concentration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160520" cy="5029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3  ·  By Transaction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concentrates in two types, consistently across every channel.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Transfer: 24.8–30.6%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 Withdrawal: 17.0–26.6%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(vs. Bill Payment / Card ≈ 13%)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Reweight fraud-review staffing and rule-tuning toward Transfer and Cash Withdrawal specifically.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160520" cy="5029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3" name="Text 11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4  ·  By Amount Band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amount is an independent, threshold-driven predictor of risk.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₦100k: 16–19%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₦100–250k: 25.5%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₦250k: 40.9%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46120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520440"/>
            <a:ext cx="3794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explicit high-value review tier in risk policy rather than relying on type or channel alone.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Insight 5  ·  Customer Value Concentration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A2744"/>
          </a:solidFill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small number of customers drive a disproportionate share of revenue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10% ≈ 27% of successful value  ·  Top 30% ≈ 59.5%  ·  Bottom half ≈ 20%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Pareto / decile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customer-model re-test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(Q11)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NTILE window function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 ·  Establish a dedicated relationship-management programme for the top customer decile.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independently in Excel, Python and SQL — triangulation standard fully met.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Final Validation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52144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</p:spPr>
      </p:sp>
      <p:sp>
        <p:nvSpPr>
          <p:cNvPr id="6" name="Text 4"/>
          <p:cNvSpPr/>
          <p:nvPr/>
        </p:nvSpPr>
        <p:spPr>
          <a:xfrm>
            <a:off x="502920" y="1188720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078992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counts &amp;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353312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1,500 customers · 12,000 txns · ₦560.5M / ₦510.8M — identical across all four tools.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01952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</p:spPr>
      </p:sp>
      <p:sp>
        <p:nvSpPr>
          <p:cNvPr id="11" name="Text 9"/>
          <p:cNvSpPr/>
          <p:nvPr/>
        </p:nvSpPr>
        <p:spPr>
          <a:xfrm>
            <a:off x="502920" y="193852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82880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 &amp; risk-review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10312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90.47% success · 19.60% risk-review — COUNTIFS, SQL, pandas &amp; DAX all agree.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51760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</p:spPr>
      </p:sp>
      <p:sp>
        <p:nvSpPr>
          <p:cNvPr id="16" name="Text 14"/>
          <p:cNvSpPr/>
          <p:nvPr/>
        </p:nvSpPr>
        <p:spPr>
          <a:xfrm>
            <a:off x="502920" y="2688336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578608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flag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852928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Corrected from 30.2% → 30.0% after direct re-filter of raw data (Q7). Direction unchanged.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401568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502920" y="3438144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328416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value concentration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602736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10% ≈ ¼ of value confirmed by Excel Pareto, Python model and SQL NTILE.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51376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</p:spPr>
      </p:sp>
      <p:sp>
        <p:nvSpPr>
          <p:cNvPr id="26" name="Text 24"/>
          <p:cNvSpPr/>
          <p:nvPr/>
        </p:nvSpPr>
        <p:spPr>
          <a:xfrm>
            <a:off x="502920" y="4187952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4078224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February volume dip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4352544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rate constant at 133 txns/day; February simply had fewer calendar days.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Decision-Ready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61288"/>
            <a:ext cx="420624" cy="420624"/>
          </a:xfrm>
          <a:prstGeom prst="ellipse">
            <a:avLst/>
          </a:prstGeom>
          <a:solidFill>
            <a:srgbClr val="1A2744"/>
          </a:solidFill>
        </p:spPr>
      </p:sp>
      <p:sp>
        <p:nvSpPr>
          <p:cNvPr id="6" name="Text 4"/>
          <p:cNvSpPr/>
          <p:nvPr/>
        </p:nvSpPr>
        <p:spPr>
          <a:xfrm>
            <a:off x="548640" y="1216152"/>
            <a:ext cx="420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 on successful-only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KPI for all revenue reporting; all-status as secondary only.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92808"/>
            <a:ext cx="420624" cy="420624"/>
          </a:xfrm>
          <a:prstGeom prst="ellipse">
            <a:avLst/>
          </a:prstGeom>
          <a:solidFill>
            <a:srgbClr val="1A2744"/>
          </a:solidFill>
        </p:spPr>
      </p:sp>
      <p:sp>
        <p:nvSpPr>
          <p:cNvPr id="11" name="Text 9"/>
          <p:cNvSpPr/>
          <p:nvPr/>
        </p:nvSpPr>
        <p:spPr>
          <a:xfrm>
            <a:off x="548640" y="1947672"/>
            <a:ext cx="420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8562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Re-engage the At-Risk segment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campaign for the 600 customers holding 34.8% of value.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24328"/>
            <a:ext cx="420624" cy="420624"/>
          </a:xfrm>
          <a:prstGeom prst="ellipse">
            <a:avLst/>
          </a:prstGeom>
          <a:solidFill>
            <a:srgbClr val="1A2744"/>
          </a:solidFill>
        </p:spPr>
      </p:sp>
      <p:sp>
        <p:nvSpPr>
          <p:cNvPr id="16" name="Text 14"/>
          <p:cNvSpPr/>
          <p:nvPr/>
        </p:nvSpPr>
        <p:spPr>
          <a:xfrm>
            <a:off x="548640" y="2679192"/>
            <a:ext cx="420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25877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risk capacity on Transfer &amp; Cash 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86207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Reweight staffing and rules toward the two highest-flag types.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55848"/>
            <a:ext cx="420624" cy="420624"/>
          </a:xfrm>
          <a:prstGeom prst="ellipse">
            <a:avLst/>
          </a:prstGeom>
          <a:solidFill>
            <a:srgbClr val="1A2744"/>
          </a:solidFill>
        </p:spPr>
      </p:sp>
      <p:sp>
        <p:nvSpPr>
          <p:cNvPr id="21" name="Text 19"/>
          <p:cNvSpPr/>
          <p:nvPr/>
        </p:nvSpPr>
        <p:spPr>
          <a:xfrm>
            <a:off x="548640" y="3410712"/>
            <a:ext cx="420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31927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high-value review tier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9359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policy trigger above ₦100k / ₦250k amount bands.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87368"/>
            <a:ext cx="420624" cy="420624"/>
          </a:xfrm>
          <a:prstGeom prst="ellipse">
            <a:avLst/>
          </a:prstGeom>
          <a:solidFill>
            <a:srgbClr val="1A2744"/>
          </a:solidFill>
        </p:spPr>
      </p:sp>
      <p:sp>
        <p:nvSpPr>
          <p:cNvPr id="26" name="Text 24"/>
          <p:cNvSpPr/>
          <p:nvPr/>
        </p:nvSpPr>
        <p:spPr>
          <a:xfrm>
            <a:off x="548640" y="4142232"/>
            <a:ext cx="42062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05079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the top customer decile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2511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Relationship-management programme for the 150 highest-value clients.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Shape 1"/>
          <p:cNvSpPr/>
          <p:nvPr/>
        </p:nvSpPr>
        <p:spPr>
          <a:xfrm rot="1200000">
            <a:off x="7132320" y="-274320"/>
            <a:ext cx="2743200" cy="2743200"/>
          </a:xfrm>
          <a:prstGeom prst="rect">
            <a:avLst/>
          </a:prstGeom>
          <a:solidFill>
            <a:srgbClr val="3B82F6">
              <a:alpha val="7000"/>
            </a:srgbClr>
          </a:solidFill>
        </p:spPr>
      </p:sp>
      <p:sp>
        <p:nvSpPr>
          <p:cNvPr id="4" name="Shape 2"/>
          <p:cNvSpPr/>
          <p:nvPr/>
        </p:nvSpPr>
        <p:spPr>
          <a:xfrm rot="2100000">
            <a:off x="7772400" y="3200400"/>
            <a:ext cx="2286000" cy="2286000"/>
          </a:xfrm>
          <a:prstGeom prst="rect">
            <a:avLst/>
          </a:prstGeom>
          <a:solidFill>
            <a:srgbClr val="2B4B7E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5943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731520" y="10058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triangulated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headline figure reconciled across Excel, SQL, Python and Power BI.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57200" y="1645920"/>
            <a:ext cx="64008" cy="5943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731520" y="16916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correction applied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94767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High-value flag rate corrected 30.2% → 30.0%; direction unchanged.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2331720"/>
            <a:ext cx="64008" cy="5943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731520" y="23774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open item closed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63347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February dip explained by calendar days, not daily activity decline.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7200" y="3017520"/>
            <a:ext cx="64008" cy="5943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0" name="Text 18"/>
          <p:cNvSpPr/>
          <p:nvPr/>
        </p:nvSpPr>
        <p:spPr>
          <a:xfrm>
            <a:off x="731520" y="3063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decision-ready 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31927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paired with concrete recommended action for FinTrust management.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57200" y="3703320"/>
            <a:ext cx="64008" cy="5943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4" name="Text 22"/>
          <p:cNvSpPr/>
          <p:nvPr/>
        </p:nvSpPr>
        <p:spPr>
          <a:xfrm>
            <a:off x="731520" y="37490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Data-governance flag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00507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Account_Status does not track real behaviour — worth raising with FinTrust.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Shape 1"/>
          <p:cNvSpPr/>
          <p:nvPr/>
        </p:nvSpPr>
        <p:spPr>
          <a:xfrm rot="1080000">
            <a:off x="6949440" y="-365760"/>
            <a:ext cx="2926080" cy="2926080"/>
          </a:xfrm>
          <a:prstGeom prst="rect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 rot="1920000">
            <a:off x="7589520" y="2926080"/>
            <a:ext cx="2377440" cy="2377440"/>
          </a:xfrm>
          <a:prstGeom prst="rect">
            <a:avLst/>
          </a:prstGeom>
          <a:solidFill>
            <a:srgbClr val="2B4B7E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1463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82880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FinTrust Digital Bank  ·  Final Testing &amp; Validation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Emmanuel Asamoah Oppong  ·  Data Analytics Track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 Lab Africa  ·  Experience Lab Internship  ·  Week 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A5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5863</Words>
  <Application>WPS Presentation</Application>
  <PresentationFormat>On-screen Show (16:9)</PresentationFormat>
  <Paragraphs>365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FinTrust Digital Bank – Final Testing &amp; Validation Report | Week 4</dc:title>
  <dc:creator>Emmanuel Asamoah Oppong | Analyst Lab Africa</dc:creator>
  <dc:subject>Data Analytics Track – Experience Lab Internship</dc:subject>
  <cp:lastModifiedBy>WPS_1786192386</cp:lastModifiedBy>
  <cp:revision>2</cp:revision>
  <dcterms:created xsi:type="dcterms:W3CDTF">2026-10-11T08:29:00Z</dcterms:created>
  <dcterms:modified xsi:type="dcterms:W3CDTF">2026-10-11T08:50:37Z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BCC9EBD28DDD4A19A66C14F71AF69878_13</vt:lpwstr>
  </property>
</Properties>
</file>